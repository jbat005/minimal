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9eab4dec9d4ed4" /><Relationship Type="http://schemas.openxmlformats.org/officeDocument/2006/relationships/extended-properties" Target="/docProps/app.xml" Id="R6aa08d74239e4bad" /><Relationship Type="http://schemas.openxmlformats.org/officeDocument/2006/relationships/officeDocument" Target="/ppt/presentation.xml" Id="Rbcc7b90b445440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7ba4a6d26544a4"/>
  </p:sldMasterIdLst>
  <p:notesMasterIdLst>
    <p:notesMasterId xmlns:r="http://schemas.openxmlformats.org/officeDocument/2006/relationships" r:id="R97972b0017004ba2"/>
  </p:notesMasterIdLst>
  <p:sldIdLst>
    <p:sldId xmlns:r="http://schemas.openxmlformats.org/officeDocument/2006/relationships" id="256" r:id="R3e129790b2804eca"/>
    <p:sldId xmlns:r="http://schemas.openxmlformats.org/officeDocument/2006/relationships" id="257" r:id="R8e750562b6824ba1"/>
    <p:sldId xmlns:r="http://schemas.openxmlformats.org/officeDocument/2006/relationships" id="258" r:id="R76ea1f4b80044a8f"/>
    <p:sldId xmlns:r="http://schemas.openxmlformats.org/officeDocument/2006/relationships" id="259" r:id="Rf7818708795840c8"/>
    <p:sldId xmlns:r="http://schemas.openxmlformats.org/officeDocument/2006/relationships" id="260" r:id="Rd3ceb3e92d4a4df5"/>
    <p:sldId xmlns:r="http://schemas.openxmlformats.org/officeDocument/2006/relationships" id="261" r:id="R4b837637348549a9"/>
    <p:sldId xmlns:r="http://schemas.openxmlformats.org/officeDocument/2006/relationships" id="262" r:id="Rc4e3d3b64e2748b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4704c2e6da43f1" /><Relationship Type="http://schemas.openxmlformats.org/officeDocument/2006/relationships/slideMaster" Target="/ppt/slideMasters/slideMaster1.xml" Id="R387ba4a6d26544a4" /><Relationship Type="http://schemas.openxmlformats.org/officeDocument/2006/relationships/notesMaster" Target="/ppt/notesMasters/notesMaster1.xml" Id="R97972b0017004ba2" /><Relationship Type="http://schemas.openxmlformats.org/officeDocument/2006/relationships/presProps" Target="/ppt/presProps.xml" Id="R25cff0ae5c3d414c" /><Relationship Type="http://schemas.openxmlformats.org/officeDocument/2006/relationships/tableStyles" Target="/ppt/tableStyles.xml" Id="R2680be1e1e03400c" /><Relationship Type="http://schemas.openxmlformats.org/officeDocument/2006/relationships/slide" Target="/ppt/slides/slide1.xml" Id="R3e129790b2804eca" /><Relationship Type="http://schemas.openxmlformats.org/officeDocument/2006/relationships/slide" Target="/ppt/slides/slide2.xml" Id="R8e750562b6824ba1" /><Relationship Type="http://schemas.openxmlformats.org/officeDocument/2006/relationships/slide" Target="/ppt/slides/slide3.xml" Id="R76ea1f4b80044a8f" /><Relationship Type="http://schemas.openxmlformats.org/officeDocument/2006/relationships/slide" Target="/ppt/slides/slide4.xml" Id="Rf7818708795840c8" /><Relationship Type="http://schemas.openxmlformats.org/officeDocument/2006/relationships/slide" Target="/ppt/slides/slide5.xml" Id="Rd3ceb3e92d4a4df5" /><Relationship Type="http://schemas.openxmlformats.org/officeDocument/2006/relationships/slide" Target="/ppt/slides/slide6.xml" Id="R4b837637348549a9" /><Relationship Type="http://schemas.openxmlformats.org/officeDocument/2006/relationships/slide" Target="/ppt/slides/slide7.xml" Id="Rc4e3d3b64e2748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cc587feab54f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056b7f014b4fb1" /><Relationship Type="http://schemas.openxmlformats.org/officeDocument/2006/relationships/notesMaster" Target="/ppt/notesMasters/notesMaster1.xml" Id="R110e4c10b88848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19f20c75ee43e8" /><Relationship Type="http://schemas.openxmlformats.org/officeDocument/2006/relationships/notesMaster" Target="/ppt/notesMasters/notesMaster1.xml" Id="R302baf4d497346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4bc0ef38014f3d" /><Relationship Type="http://schemas.openxmlformats.org/officeDocument/2006/relationships/notesMaster" Target="/ppt/notesMasters/notesMaster1.xml" Id="R814348a808454c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2ab51debf34afb" /><Relationship Type="http://schemas.openxmlformats.org/officeDocument/2006/relationships/notesMaster" Target="/ppt/notesMasters/notesMaster1.xml" Id="Rb3c5b217df1945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c6d8dcc79c4184" /><Relationship Type="http://schemas.openxmlformats.org/officeDocument/2006/relationships/notesMaster" Target="/ppt/notesMasters/notesMaster1.xml" Id="Rac1e1c511a3546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453a2629d343ca" /><Relationship Type="http://schemas.openxmlformats.org/officeDocument/2006/relationships/notesMaster" Target="/ppt/notesMasters/notesMaster1.xml" Id="Re3d0fea58ec249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293452dbb8468a" /><Relationship Type="http://schemas.openxmlformats.org/officeDocument/2006/relationships/notesMaster" Target="/ppt/notesMasters/notesMaster1.xml" Id="Rd61257b3ab1649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3775fdbcab42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e1c3f657944ce7" /><Relationship Type="http://schemas.openxmlformats.org/officeDocument/2006/relationships/slideLayout" Target="/ppt/slideLayouts/slideLayout1.xml" Id="R982f0b2f432c46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2f0b2f432c46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812887bbd41b2" /><Relationship Type="http://schemas.openxmlformats.org/officeDocument/2006/relationships/image" Target="/ppt/media/image.jpeg" Id="Rffc1677b04964151" /><Relationship Type="http://schemas.openxmlformats.org/officeDocument/2006/relationships/notesSlide" Target="/ppt/notesSlides/notesSlide1.xml" Id="R3a16cac945514b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3be1fe3c34a33" /><Relationship Type="http://schemas.openxmlformats.org/officeDocument/2006/relationships/notesSlide" Target="/ppt/notesSlides/notesSlide2.xml" Id="Rb5c10ff0d2204b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fbc07e0944709" /><Relationship Type="http://schemas.openxmlformats.org/officeDocument/2006/relationships/notesSlide" Target="/ppt/notesSlides/notesSlide3.xml" Id="R04fc0043b4bf40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05ab0a41a4f94" /><Relationship Type="http://schemas.openxmlformats.org/officeDocument/2006/relationships/chart" Target="/ppt/slides/charts/chart1.xml" Id="Rea5cc03aae5942d9" /><Relationship Type="http://schemas.openxmlformats.org/officeDocument/2006/relationships/notesSlide" Target="/ppt/notesSlides/notesSlide4.xml" Id="Rc2bb36cd66d648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5deacbfc1493f" /><Relationship Type="http://schemas.openxmlformats.org/officeDocument/2006/relationships/chart" Target="/ppt/slides/charts/chart2.xml" Id="R4905f91527c04dd8" /><Relationship Type="http://schemas.openxmlformats.org/officeDocument/2006/relationships/notesSlide" Target="/ppt/notesSlides/notesSlide5.xml" Id="R585f32cc8c624f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4411c49b04630" /><Relationship Type="http://schemas.openxmlformats.org/officeDocument/2006/relationships/chart" Target="/ppt/slides/charts/chart3.xml" Id="Rde6382118b6541d5" /><Relationship Type="http://schemas.openxmlformats.org/officeDocument/2006/relationships/notesSlide" Target="/ppt/notesSlides/notesSlide6.xml" Id="Recbd9b3c059443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41e268aa24543" /><Relationship Type="http://schemas.openxmlformats.org/officeDocument/2006/relationships/notesSlide" Target="/ppt/notesSlides/notesSlide7.xml" Id="R86a7e354bafd43b5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Average daily score</c:v>
          </c:tx>
          <c:spPr>
            <a:solidFill xmlns:a="http://schemas.openxmlformats.org/drawingml/2006/main">
              <a:srgbClr val="0A0A0A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Baseline</c:v>
              </c:pt>
              <c:pt idx="1">
                <c:v>Strategy</c:v>
              </c:pt>
              <c:pt idx="2">
                <c:v>Mastery</c:v>
              </c:pt>
            </c:strLit>
          </c:cat>
          <c:val>
            <c:numLit>
              <c:formatCode>0.0</c:formatCode>
              <c:ptCount val="3"/>
              <c:pt idx="0">
                <c:v>2</c:v>
              </c:pt>
              <c:pt idx="1">
                <c:v>4.06</c:v>
              </c:pt>
              <c:pt idx="2">
                <c:v>4.69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A0A0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4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B2B2B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1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D4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1717A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</c:spPr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D8D4CA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Prepared</c:v>
              </c:pt>
              <c:pt idx="1">
                <c:v>SEL language</c:v>
              </c:pt>
              <c:pt idx="2">
                <c:v>PBIS</c:v>
              </c:pt>
              <c:pt idx="3">
                <c:v>Transitions</c:v>
              </c:pt>
              <c:pt idx="4">
                <c:v>Confidence</c:v>
              </c:pt>
            </c:strLit>
          </c:cat>
          <c:val>
            <c:numLit>
              <c:formatCode>General</c:formatCode>
              <c:ptCount val="5"/>
              <c:pt idx="0">
                <c:v>2</c:v>
              </c:pt>
              <c:pt idx="1">
                <c:v>1.63</c:v>
              </c:pt>
              <c:pt idx="2">
                <c:v>1.38</c:v>
              </c:pt>
              <c:pt idx="3">
                <c:v>2.25</c:v>
              </c:pt>
              <c:pt idx="4">
                <c:v>2</c:v>
              </c:pt>
            </c:numLit>
          </c:val>
        </c:ser>
        <c:ser>
          <c:idx val="1"/>
          <c:order val="1"/>
          <c:tx>
            <c:v>Mastery</c:v>
          </c:tx>
          <c:spPr>
            <a:solidFill xmlns:a="http://schemas.openxmlformats.org/drawingml/2006/main">
              <a:srgbClr val="0A0A0A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Prepared</c:v>
              </c:pt>
              <c:pt idx="1">
                <c:v>SEL language</c:v>
              </c:pt>
              <c:pt idx="2">
                <c:v>PBIS</c:v>
              </c:pt>
              <c:pt idx="3">
                <c:v>Transitions</c:v>
              </c:pt>
              <c:pt idx="4">
                <c:v>Confidence</c:v>
              </c:pt>
            </c:strLit>
          </c:cat>
          <c:val>
            <c:numLit>
              <c:formatCode>General</c:formatCode>
              <c:ptCount val="5"/>
              <c:pt idx="0">
                <c:v>4.44</c:v>
              </c:pt>
              <c:pt idx="1">
                <c:v>3.69</c:v>
              </c:pt>
              <c:pt idx="2">
                <c:v>4.69</c:v>
              </c:pt>
              <c:pt idx="3">
                <c:v>4.38</c:v>
              </c:pt>
              <c:pt idx="4">
                <c:v>4.69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0A0A0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1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D4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1717A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4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B2B2B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spPr>
        <a:ln xmlns:a="http://schemas.openxmlformats.org/drawingml/2006/main" w="0">
          <a:noFill/>
          <a:prstDash val="solid"/>
        </a:ln>
      </c:spPr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2525B"/>
              </a:solidFill>
            </a:defRPr>
          </a:pPr>
        </a:p>
      </c:txPr>
    </c:legend>
    <c:plotVisOnly val="1"/>
  </c:chart>
  <c:spPr>
    <a:noFill xmlns:a="http://schemas.openxmlformats.org/drawingml/2006/main"/>
  </c:spPr>
</c:chartSpace>
</file>

<file path=ppt/slides/charts/chart3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Overall confidence</c:v>
          </c:tx>
          <c:spPr>
            <a:solidFill xmlns:a="http://schemas.openxmlformats.org/drawingml/2006/main">
              <a:srgbClr val="0A0A0A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Gen Ed</c:v>
              </c:pt>
              <c:pt idx="1">
                <c:v>ICT</c:v>
              </c:pt>
              <c:pt idx="2">
                <c:v>Self-Contained</c:v>
              </c:pt>
            </c:strLit>
          </c:cat>
          <c:val>
            <c:numLit>
              <c:formatCode>0.0</c:formatCode>
              <c:ptCount val="3"/>
              <c:pt idx="0">
                <c:v>4.05</c:v>
              </c:pt>
              <c:pt idx="1">
                <c:v>3.87</c:v>
              </c:pt>
              <c:pt idx="2">
                <c:v>3.5</c:v>
              </c:pt>
            </c:numLit>
          </c:val>
        </c:ser>
        <c:ser>
          <c:idx val="1"/>
          <c:order val="1"/>
          <c:tx>
            <c:v>Preparedness</c:v>
          </c:tx>
          <c:spPr>
            <a:solidFill xmlns:a="http://schemas.openxmlformats.org/drawingml/2006/main">
              <a:srgbClr val="71717A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Gen Ed</c:v>
              </c:pt>
              <c:pt idx="1">
                <c:v>ICT</c:v>
              </c:pt>
              <c:pt idx="2">
                <c:v>Self-Contained</c:v>
              </c:pt>
            </c:strLit>
          </c:cat>
          <c:val>
            <c:numLit>
              <c:formatCode>0.0</c:formatCode>
              <c:ptCount val="3"/>
              <c:pt idx="0">
                <c:v>3.47</c:v>
              </c:pt>
              <c:pt idx="1">
                <c:v>3.6</c:v>
              </c:pt>
              <c:pt idx="2">
                <c:v>3.83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4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B2B2B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1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D4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1717A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2525B"/>
              </a:solidFill>
            </a:defRPr>
          </a:pPr>
        </a:p>
      </c:txPr>
    </c:legend>
    <c:plotVisOnly val="1"/>
  </c:chart>
  <c:spPr>
    <a:noFill xmlns:a="http://schemas.openxmlformats.org/drawingml/2006/main"/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1677b04964151"/>
          <a:srcRect xmlns:a="http://schemas.openxmlformats.org/drawingml/2006/main" l="54" t="0" r="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3524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1C00B-5DFF-4604-B657-2F68900E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24250"/>
            <a:ext cx="12192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EFD44-809F-43B7-818C-38AF555A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0A0A0A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0A0A0A"/>
                </a:solidFill>
                <a:latin typeface="Georgia"/>
                <a:ea typeface="Georgia"/>
                <a:cs typeface="Georgia"/>
              </a:rPr>
              <a:t>Student Observations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3BAE8-D875-4D15-B85F-BB9EFA4C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Intervention tactics for confidence and classroom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3BAF6-5339-4D01-B6F2-56C605E5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25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525B"/>
                </a:solidFill>
                <a:latin typeface="Aptos"/>
                <a:ea typeface="Aptos"/>
                <a:cs typeface="Aptos"/>
              </a:rPr>
              <a:t>Rachel Morales - PS 196, New York City</a:t>
            </a:r>
          </a:p>
          <a:p xmlns:a="http://schemas.openxmlformats.org/drawingml/2006/main">
            <a:pPr algn="l">
              <a:defRPr sz="1275" b="0">
                <a:solidFill>
                  <a:srgbClr val="52525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525B"/>
                </a:solidFill>
                <a:latin typeface="Aptos"/>
                <a:ea typeface="Aptos"/>
                <a:cs typeface="Aptos"/>
              </a:rPr>
              <a:t>Project analysis and reporting by Jean Batista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592926-34A9-4BCD-8F95-44AA6AF1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624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A0A0A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0A0A0A"/>
                </a:solidFill>
                <a:latin typeface="Georgia"/>
                <a:ea typeface="Georgia"/>
                <a:cs typeface="Georgia"/>
              </a:rPr>
              <a:t>+134%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002D6-512B-4AF0-AE41-A4200D3D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53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2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525B"/>
                </a:solidFill>
                <a:latin typeface="Aptos"/>
                <a:ea typeface="Aptos"/>
                <a:cs typeface="Aptos"/>
              </a:rPr>
              <a:t>daily classroom score growth</a:t>
            </a:r>
          </a:p>
        </p:txBody>
      </p:sp>
    </p:spTree>
    <p:extLst>
      <p:ext uri="{BB962C8B-B14F-4D97-AF65-F5344CB8AC3E}">
        <p14:creationId xmlns:p14="http://schemas.microsoft.com/office/powerpoint/2010/main" val="6221739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410164-2813-440A-8416-4B9A0166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RESEARCH ANCHOR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26224-836F-4443-816D-570DED46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00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02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8F22C-E582-49BE-B931-BEE4F279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1F823-7004-4117-85FD-BE6D4735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A0A0A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0A0A0A"/>
                </a:solidFill>
                <a:latin typeface="Georgia"/>
                <a:ea typeface="Georgia"/>
                <a:cs typeface="Georgia"/>
              </a:rPr>
              <a:t>The study started with research, then a plan.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83D17-52E8-4174-9685-D0333078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25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525B"/>
                </a:solidFill>
                <a:latin typeface="Aptos"/>
                <a:ea typeface="Aptos"/>
                <a:cs typeface="Aptos"/>
              </a:rPr>
              <a:t>Before collecting evidence, we used classroom-management literature to define what was worth testing.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B8538-667F-4BBB-8F2C-54799FD1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9530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7AE5C-9046-4130-8DED-37213BE2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6F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7F6F3"/>
                </a:solidFill>
                <a:latin typeface="Aptos"/>
                <a:ea typeface="Aptos"/>
                <a:cs typeface="Aptos"/>
              </a:rPr>
              <a:t>Korpershoek, de Boer, and Mouw (2025)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F7D51A-A623-4A02-8B62-1C90D01F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4095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D8C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D8CF"/>
                </a:solidFill>
                <a:latin typeface="Aptos"/>
                <a:ea typeface="Aptos"/>
                <a:cs typeface="Aptos"/>
              </a:rPr>
              <a:t>Their meta-analysis covered 76 controlled classroom-management intervention studies and found a small but significant positive effect on student outcomes.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4F70A8-324B-41E5-84F5-FB07046B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9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7A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7AC"/>
                </a:solidFill>
                <a:latin typeface="Aptos"/>
                <a:ea typeface="Aptos"/>
                <a:cs typeface="Aptos"/>
              </a:rPr>
              <a:t>DOI: 10.3102/00346543251361903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245AB-FB94-4A16-A3E7-FF1325B6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90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A0A0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A0A0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7BAEF1-C05A-4185-933A-CAD199FA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71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A0A0A"/>
                </a:solidFill>
                <a:latin typeface="Aptos"/>
                <a:ea typeface="Aptos"/>
                <a:cs typeface="Aptos"/>
              </a:rPr>
              <a:t>Research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4A2365-0B8B-4248-933C-3D730651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004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52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525B"/>
                </a:solidFill>
                <a:latin typeface="Aptos"/>
                <a:ea typeface="Aptos"/>
                <a:cs typeface="Aptos"/>
              </a:rPr>
              <a:t>Use evidence to frame the question.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9C545-0E6E-4333-8C5A-D5936A44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147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4C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3DB00-A1BB-48EB-BD13-3179A720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67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A0A0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A0A0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88AF9F-40F0-46F0-AFA8-BAF22A86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48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A0A0A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08D34-F9FA-4941-9D22-FC12C4DE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76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52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525B"/>
                </a:solidFill>
                <a:latin typeface="Aptos"/>
                <a:ea typeface="Aptos"/>
                <a:cs typeface="Aptos"/>
              </a:rPr>
              <a:t>Observe the classroom before new tactics.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54DB9-674A-4A8D-832C-7E024C9D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909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4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44E5FB-A16E-4734-8EBE-50906B12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433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A0A0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A0A0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D94A0B-D0DC-4A54-9F2C-B35CC5B4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243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A0A0A"/>
                </a:solidFill>
                <a:latin typeface="Aptos"/>
                <a:ea typeface="Aptos"/>
                <a:cs typeface="Aptos"/>
              </a:rPr>
              <a:t>Intervene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4628A2-ACCC-47A5-BCA0-47E7B4D1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5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52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525B"/>
                </a:solidFill>
                <a:latin typeface="Aptos"/>
                <a:ea typeface="Aptos"/>
                <a:cs typeface="Aptos"/>
              </a:rPr>
              <a:t>Use routines, reminders, PBIS, and SEL language.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ACEF82-78BD-446E-8F9C-7A998159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672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4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2434DC-0206-41C7-819B-AAC4DA5F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19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A0A0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A0A0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D89CB2-6DA3-451E-8427-FA95F145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005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A0A0A"/>
                </a:solidFill>
                <a:latin typeface="Aptos"/>
                <a:ea typeface="Aptos"/>
                <a:cs typeface="Aptos"/>
              </a:rPr>
              <a:t>Analyze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B31938-B8FF-43B4-846E-91AEBC7B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291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52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525B"/>
                </a:solidFill>
                <a:latin typeface="Aptos"/>
                <a:ea typeface="Aptos"/>
                <a:cs typeface="Aptos"/>
              </a:rPr>
              <a:t>Score five signals and compare phase movement.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CAB459-7BFE-4C4C-B2AF-A6BE3EA7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434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4C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53D621-BF52-468F-AF0E-03773D62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95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A0A0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A0A0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6ACFC6-92C0-47D7-B67B-E4E8C864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76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A0A0A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A702AA-655E-42F2-9915-0E1A4BC0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054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52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525B"/>
                </a:solidFill>
                <a:latin typeface="Aptos"/>
                <a:ea typeface="Aptos"/>
                <a:cs typeface="Aptos"/>
              </a:rPr>
              <a:t>Share findings with directors, teachers, and families.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BD8684-9790-497C-A543-5DE32135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Student Observations Study - PS 196</a:t>
            </a:r>
          </a:p>
        </p:txBody>
      </p:sp>
    </p:spTree>
    <p:extLst>
      <p:ext uri="{BB962C8B-B14F-4D97-AF65-F5344CB8AC3E}">
        <p14:creationId xmlns:p14="http://schemas.microsoft.com/office/powerpoint/2010/main" val="1922293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0C8FAE-3FE8-44B7-921C-88148D4C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MEASUREMENT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0CC9B-6EB2-4744-BB5A-DAA540EF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00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03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F3675-2D66-4FB6-97B0-B4C5D912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19514-8A79-4B74-9E59-6FB60463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A0A0A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0A0A0A"/>
                </a:solidFill>
                <a:latin typeface="Georgia"/>
                <a:ea typeface="Georgia"/>
                <a:cs typeface="Georgia"/>
              </a:rPr>
              <a:t>The measurement design kept the experiment simple.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2872CC-CA90-4CE2-AD57-3EE77FBD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25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525B"/>
                </a:solidFill>
                <a:latin typeface="Aptos"/>
                <a:ea typeface="Aptos"/>
                <a:cs typeface="Aptos"/>
              </a:rPr>
              <a:t>We watched the same classroom signals through three phases so changes could be read as a pattern instead of a hunch.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25363-4B94-4495-8C94-5BA492D7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A0A0A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0A0A0A"/>
                </a:solidFill>
                <a:latin typeface="Georgia"/>
                <a:ea typeface="Georgia"/>
                <a:cs typeface="Georgia"/>
              </a:rPr>
              <a:t>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E9718-C2FB-4ACC-A2D9-7E3A0696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2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525B"/>
                </a:solidFill>
                <a:latin typeface="Aptos"/>
                <a:ea typeface="Aptos"/>
                <a:cs typeface="Aptos"/>
              </a:rPr>
              <a:t>school days observed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9007C-87CA-4A47-AAFC-87C219E4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432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A0A0A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0A0A0A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C4F19-00BC-47C1-B345-7CB62E56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338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2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525B"/>
                </a:solidFill>
                <a:latin typeface="Aptos"/>
                <a:ea typeface="Aptos"/>
                <a:cs typeface="Aptos"/>
              </a:rPr>
              <a:t>classrooms represented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07ADE-B17A-49BD-8D7F-1D823414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A0A0A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0A0A0A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AB77A6-495A-4A7E-BA0B-22D02DAE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338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2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525B"/>
                </a:solidFill>
                <a:latin typeface="Aptos"/>
                <a:ea typeface="Aptos"/>
                <a:cs typeface="Aptos"/>
              </a:rPr>
              <a:t>core signals tracked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0AA6E-B409-438D-BE94-26EC60FF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432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A0A0A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0A0A0A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D955D-16EB-4ED8-AF60-9AF86EB7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338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2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525B"/>
                </a:solidFill>
                <a:latin typeface="Aptos"/>
                <a:ea typeface="Aptos"/>
                <a:cs typeface="Aptos"/>
              </a:rPr>
              <a:t>baseline, strategy, mastery phases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7AA92C-206A-47D1-8F81-CAE5E137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4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14D250-55F1-4353-A481-1CA96BD7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054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0A0A0A"/>
                </a:solidFill>
                <a:latin typeface="Georgia"/>
                <a:ea typeface="Georgia"/>
                <a:cs typeface="Georgia"/>
              </a:rPr>
              <a:t>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3D4304-A0A1-41CA-8208-24F27454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8 days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1DDEED-E1BD-4107-A19B-FA0F4296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8293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52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525B"/>
                </a:solidFill>
                <a:latin typeface="Aptos"/>
                <a:ea typeface="Aptos"/>
                <a:cs typeface="Aptos"/>
              </a:rPr>
              <a:t>Observe before new tactics.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851070-8465-4EF4-A42C-F317DD13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5054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0A0A0A"/>
                </a:solidFill>
                <a:latin typeface="Georgia"/>
                <a:ea typeface="Georgia"/>
                <a:cs typeface="Georgia"/>
              </a:rPr>
              <a:t>Strategy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EEBD86-2D50-4415-9517-D32FD2B0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8293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16 days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F20D-A706-4086-94F5-1DEC3BA8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8293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52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525B"/>
                </a:solidFill>
                <a:latin typeface="Aptos"/>
                <a:ea typeface="Aptos"/>
                <a:cs typeface="Aptos"/>
              </a:rPr>
              <a:t>Implement the intervention tactics.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A2D6B9-C104-447F-8478-5654E930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054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0A0A0A"/>
                </a:solidFill>
                <a:latin typeface="Georgia"/>
                <a:ea typeface="Georgia"/>
                <a:cs typeface="Georgia"/>
              </a:rPr>
              <a:t>Mastery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8820C7-526D-4B82-A770-4908C05A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8293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16 days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B0AFD4-3032-4973-893B-6768AA0F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8293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52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525B"/>
                </a:solidFill>
                <a:latin typeface="Aptos"/>
                <a:ea typeface="Aptos"/>
                <a:cs typeface="Aptos"/>
              </a:rPr>
              <a:t>Refine and track whether gains hold.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51066B-36CD-4122-9116-05219AC9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Student Observations Study - PS 196</a:t>
            </a:r>
          </a:p>
        </p:txBody>
      </p:sp>
    </p:spTree>
    <p:extLst>
      <p:ext uri="{BB962C8B-B14F-4D97-AF65-F5344CB8AC3E}">
        <p14:creationId xmlns:p14="http://schemas.microsoft.com/office/powerpoint/2010/main" val="6578153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07C3BB-2FB6-4D91-9FA8-091EEAB2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MAIN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CCD94-2C15-4386-B3B0-C8450782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00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04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E8CD9-A46B-43B1-9130-7CEFE739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D150C-E005-4ABF-8CD9-77F0DFED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A0A0A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0A0A0A"/>
                </a:solidFill>
                <a:latin typeface="Georgia"/>
                <a:ea typeface="Georgia"/>
                <a:cs typeface="Georgia"/>
              </a:rPr>
              <a:t>The classroom score rose after strategy implementation.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4D510-DAE5-4908-9B49-5DDF3A66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25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525B"/>
                </a:solidFill>
                <a:latin typeface="Aptos"/>
                <a:ea typeface="Aptos"/>
                <a:cs typeface="Aptos"/>
              </a:rPr>
              <a:t>The strongest jump came after the intervention tactics were introduced, then the mastery phase added another measurable lift.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800100" y="2952750"/>
          <a:ext xmlns:a="http://schemas.openxmlformats.org/drawingml/2006/main" cx="68580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5cc03aae5942d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AF07F-A7F2-41BF-82B5-E7442F39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A0A0A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0A0A0A"/>
                </a:solidFill>
                <a:latin typeface="Georgia"/>
                <a:ea typeface="Georgia"/>
                <a:cs typeface="Georgia"/>
              </a:rPr>
              <a:t>2.0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158DE-30FC-4365-99CA-AD9D6255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2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525B"/>
                </a:solidFill>
                <a:latin typeface="Aptos"/>
                <a:ea typeface="Aptos"/>
                <a:cs typeface="Aptos"/>
              </a:rPr>
              <a:t>baseline average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367FF7-34D8-4736-9389-71C49CC5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A0A0A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0A0A0A"/>
                </a:solidFill>
                <a:latin typeface="Georgia"/>
                <a:ea typeface="Georgia"/>
                <a:cs typeface="Georgia"/>
              </a:rPr>
              <a:t>4.7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3C83E-814D-438C-9518-CF1E1B9D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339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2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525B"/>
                </a:solidFill>
                <a:latin typeface="Aptos"/>
                <a:ea typeface="Aptos"/>
                <a:cs typeface="Aptos"/>
              </a:rPr>
              <a:t>mastery average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8DB30-9344-4C24-9763-FCD35925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388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A0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A0A0A"/>
                </a:solidFill>
                <a:latin typeface="Aptos"/>
                <a:ea typeface="Aptos"/>
                <a:cs typeface="Aptos"/>
              </a:rPr>
              <a:t>+134% total growth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63E093-2315-4BBB-B7F5-58634DE7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Student Observations Study - PS 196</a:t>
            </a:r>
          </a:p>
        </p:txBody>
      </p:sp>
    </p:spTree>
    <p:extLst>
      <p:ext uri="{BB962C8B-B14F-4D97-AF65-F5344CB8AC3E}">
        <p14:creationId xmlns:p14="http://schemas.microsoft.com/office/powerpoint/2010/main" val="21466943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4B5CA6-C7DF-4FD0-A825-DF823529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SIGNAL MOVEMENT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C3317-CFAE-4D14-A94A-8DC061CA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00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05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492488-BBD8-4142-B4E8-807DE08E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AD029-593F-477B-86C9-E5137C47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A0A0A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0A0A0A"/>
                </a:solidFill>
                <a:latin typeface="Georgia"/>
                <a:ea typeface="Georgia"/>
                <a:cs typeface="Georgia"/>
              </a:rPr>
              <a:t>The five signals made the improvement specific.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40340-5FB0-4B8E-9983-4B564B97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25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525B"/>
                </a:solidFill>
                <a:latin typeface="Aptos"/>
                <a:ea typeface="Aptos"/>
                <a:cs typeface="Aptos"/>
              </a:rPr>
              <a:t>Instead of reporting one broad impression, the analysis showed where the intervention helped most and where the next cycle should focus.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723900" y="2857500"/>
          <a:ext xmlns:a="http://schemas.openxmlformats.org/drawingml/2006/main" cx="7239000" cy="3162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05f91527c04dd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64652E-682F-47A9-BE19-D7D54781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9085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5AEDC-7FA1-4191-8E1D-148F6F76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004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7F6F3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7F6F3"/>
                </a:solidFill>
                <a:latin typeface="Georgia"/>
                <a:ea typeface="Georgia"/>
                <a:cs typeface="Georgia"/>
              </a:rPr>
              <a:t>+241%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B4194-A00F-4DC5-A802-B96E361F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33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D8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CD8CF"/>
                </a:solidFill>
                <a:latin typeface="Aptos"/>
                <a:ea typeface="Aptos"/>
                <a:cs typeface="Aptos"/>
              </a:rPr>
              <a:t>PBIS strategy growth was the clearest signal.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C55479-A2BF-42AE-8D08-905E025B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9580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25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525B"/>
                </a:solidFill>
                <a:latin typeface="Aptos"/>
                <a:ea typeface="Aptos"/>
                <a:cs typeface="Aptos"/>
              </a:rPr>
              <a:t>SEL language still improved, but it stayed the clearest next practice target.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E1EEF2-D90A-487B-B3E2-FA59D17D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Student Observations Study - PS 196</a:t>
            </a:r>
          </a:p>
        </p:txBody>
      </p:sp>
    </p:spTree>
    <p:extLst>
      <p:ext uri="{BB962C8B-B14F-4D97-AF65-F5344CB8AC3E}">
        <p14:creationId xmlns:p14="http://schemas.microsoft.com/office/powerpoint/2010/main" val="19103191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B8F623-AD92-411E-83D1-4D9BD456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EVIDENCE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95D15-C234-43F8-B84A-14EBD62C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00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06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96155-E22D-4D22-AA33-297ED16C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29A43-C33F-4049-BDD8-859DD6CC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A0A0A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0A0A0A"/>
                </a:solidFill>
                <a:latin typeface="Georgia"/>
                <a:ea typeface="Georgia"/>
                <a:cs typeface="Georgia"/>
              </a:rPr>
              <a:t>Two checks made the story more credible.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CBF47-3501-4AAB-8D8C-5EA0D3D9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25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525B"/>
                </a:solidFill>
                <a:latin typeface="Aptos"/>
                <a:ea typeface="Aptos"/>
                <a:cs typeface="Aptos"/>
              </a:rPr>
              <a:t>The report looked for evidence that the gains were not just easier rooms or loose self-ratings.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E4014-7F05-45B6-8B0B-AB2A54CB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A0A0A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0A0A0A"/>
                </a:solidFill>
                <a:latin typeface="Georgia"/>
                <a:ea typeface="Georgia"/>
                <a:cs typeface="Georgia"/>
              </a:rPr>
              <a:t>11 / 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E3A0F4-C1C8-43E5-9A18-D4E5253D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2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525B"/>
                </a:solidFill>
                <a:latin typeface="Aptos"/>
                <a:ea typeface="Aptos"/>
                <a:cs typeface="Aptos"/>
              </a:rPr>
              <a:t>repeat classrooms scored higher on the last visit than the 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1B152-2D1B-4CB8-87FF-A3E47F11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A0A0A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0A0A0A"/>
                </a:solidFill>
                <a:latin typeface="Georgia"/>
                <a:ea typeface="Georgia"/>
                <a:cs typeface="Georgia"/>
              </a:rPr>
              <a:t>r = 0.91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32778-FD87-4750-9EBC-F34CF296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2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525B"/>
                </a:solidFill>
                <a:latin typeface="Aptos"/>
                <a:ea typeface="Aptos"/>
                <a:cs typeface="Aptos"/>
              </a:rPr>
              <a:t>transition checklist completion lined up with transition ratings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257800" y="2914650"/>
          <a:ext xmlns:a="http://schemas.openxmlformats.org/drawingml/2006/main" cx="5753100" cy="3009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6382118b6541d5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9A9A7-9CBD-4A37-BAE9-CA8C4D97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9817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52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525B"/>
                </a:solidFill>
                <a:latin typeface="Aptos"/>
                <a:ea typeface="Aptos"/>
                <a:cs typeface="Aptos"/>
              </a:rPr>
              <a:t>Classroom type averages stayed in the same range, including ICT and self-contained rooms.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E3AB6-A416-492C-902F-4136FA18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Student Observations Study - PS 196</a:t>
            </a:r>
          </a:p>
        </p:txBody>
      </p:sp>
    </p:spTree>
    <p:extLst>
      <p:ext uri="{BB962C8B-B14F-4D97-AF65-F5344CB8AC3E}">
        <p14:creationId xmlns:p14="http://schemas.microsoft.com/office/powerpoint/2010/main" val="14355406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CB14B5-CBBE-4086-964E-B2B54721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685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F7F6F3"/>
                </a:solidFill>
                <a:latin typeface="Georgia"/>
                <a:ea typeface="Georgia"/>
                <a:cs typeface="Georgia"/>
              </a:defRPr>
            </a:pPr>
            <a:r>
              <a:rPr sz="4050" b="0">
                <a:solidFill>
                  <a:srgbClr val="F7F6F3"/>
                </a:solidFill>
                <a:latin typeface="Georgia"/>
                <a:ea typeface="Georgia"/>
                <a:cs typeface="Georgia"/>
              </a:rPr>
              <a:t>Where the report went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BF388-0B5E-4746-9E65-1C76D87E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CD8C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D8CF"/>
                </a:solidFill>
                <a:latin typeface="Aptos"/>
                <a:ea typeface="Aptos"/>
                <a:cs typeface="Aptos"/>
              </a:rPr>
              <a:t>The final product connected research, classroom observation, data analysis, and a practical communication tool Rachel could use with the people overseeing and supporting the project.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C554E-6263-428E-856A-B0E8A4E3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6F3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7F6F3"/>
                </a:solidFill>
                <a:latin typeface="Georgia"/>
                <a:ea typeface="Georgia"/>
                <a:cs typeface="Georgia"/>
              </a:rPr>
              <a:t>Program directors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1862A-9EAF-4806-8AE8-05D2EFDB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283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16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351F6-5A32-41DB-BACA-8ADADCF1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D8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CD8CF"/>
                </a:solidFill>
                <a:latin typeface="Aptos"/>
                <a:ea typeface="Aptos"/>
                <a:cs typeface="Aptos"/>
              </a:rPr>
              <a:t>Show the research-backed experiment design and the evidence collected during the practicum.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08F4C-0E6A-46AB-8F7A-0B178EE0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909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6F3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7F6F3"/>
                </a:solidFill>
                <a:latin typeface="Georgia"/>
                <a:ea typeface="Georgia"/>
                <a:cs typeface="Georgia"/>
              </a:rPr>
              <a:t>Classroom teachers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DCEEEA-8AA0-46C7-B7DE-670942A4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48100"/>
            <a:ext cx="283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1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AC37F-B327-4CDE-B431-A0AF718E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95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D8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CD8CF"/>
                </a:solidFill>
                <a:latin typeface="Aptos"/>
                <a:ea typeface="Aptos"/>
                <a:cs typeface="Aptos"/>
              </a:rPr>
              <a:t>Name which intervention tactics appeared to improve confidence and classroom 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46516-0D6E-4774-B42E-0E5CAC12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909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6F3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7F6F3"/>
                </a:solidFill>
                <a:latin typeface="Georgia"/>
                <a:ea typeface="Georgia"/>
                <a:cs typeface="Georgia"/>
              </a:rPr>
              <a:t>Parent conferences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F59BB-0A30-4917-8AC9-E57ADF26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48100"/>
            <a:ext cx="283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1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EBA74-3B53-4543-B301-190C166A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95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D8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CD8CF"/>
                </a:solidFill>
                <a:latin typeface="Aptos"/>
                <a:ea typeface="Aptos"/>
                <a:cs typeface="Aptos"/>
              </a:rPr>
              <a:t>Use concrete progress notes to explain student-facing changes without relying on vague impressions.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591314-A16D-413E-A02B-B41F753C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6F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7F6F3"/>
                </a:solidFill>
                <a:latin typeface="Aptos"/>
                <a:ea typeface="Aptos"/>
                <a:cs typeface="Aptos"/>
              </a:rPr>
              <a:t>Takeaway: structured interventions became measurable, visual, and shareable.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1A990D-7B91-419A-97DA-2F656417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817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A3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A398"/>
                </a:solidFill>
                <a:latin typeface="Aptos"/>
                <a:ea typeface="Aptos"/>
                <a:cs typeface="Aptos"/>
              </a:rPr>
              <a:t>Source: Korpershoek, de Boer, and Mouw (2025), DOI 10.3102/00346543251361903</a:t>
            </a:r>
          </a:p>
        </p:txBody>
      </p:sp>
    </p:spTree>
    <p:extLst>
      <p:ext uri="{BB962C8B-B14F-4D97-AF65-F5344CB8AC3E}">
        <p14:creationId xmlns:p14="http://schemas.microsoft.com/office/powerpoint/2010/main" val="854515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2026-06-25T20:03:27.0440000Z</dcterms:created>
  <dcterms:modified xsi:type="dcterms:W3CDTF">2026-06-25T20:03:27.0440000Z</dcterms:modified>
</coreProperties>
</file>