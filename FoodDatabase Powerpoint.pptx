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61" r:id="rId4"/>
    <p:sldId id="262" r:id="rId5"/>
    <p:sldId id="263" r:id="rId6"/>
    <p:sldId id="269" r:id="rId7"/>
    <p:sldId id="264" r:id="rId8"/>
    <p:sldId id="265" r:id="rId9"/>
    <p:sldId id="266" r:id="rId10"/>
    <p:sldId id="270" r:id="rId11"/>
    <p:sldId id="267" r:id="rId12"/>
    <p:sldId id="271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4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0904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3C888-8326-3D1B-E16E-A0D8D01A5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B9CED-F384-DF6C-E065-907E2B950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D5F92-809F-D41D-A5AC-4FB5AE359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76FF3-2288-ABD4-F0E8-E9D52F811E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582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2BA06-4950-E6F9-FC29-ABD5F1AFE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173FE5-1E0D-EC0D-5046-2ECDF3F7F9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99861-50BE-946D-F32B-A2D6938C1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903CF-C3D2-D261-8AD6-341F0A45EE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56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68233-A2FD-21A2-E9B2-BC9625C36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6A20E-8A94-7D6E-0273-15AA27DA4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50F79-EA4E-D4EC-235E-2EC8B4EF8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153E4-5A29-0606-37D5-361452C543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0641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alpha val="58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Grocery Food Database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 Design and Analysis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Jean Batista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May 2026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024340-A28F-4024-D7DF-3B10A8E7A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728" y="225927"/>
            <a:ext cx="2519763" cy="21972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 1: Descriptive Statistics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Sodium has the largest outliers. Mean: 720 mg. Median: 298 mg. Extreme outliers pulling the average up. All other nutrients show tight mean/median alignment.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/home/claude/r1_fig1_mean_media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" y="1577340"/>
            <a:ext cx="7754112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90118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Figure 1. Mean vs. Median by Nutrient (n=1,000). Sodium bar shows the largest divergence.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 1: Sodium Investigation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r1_fig3_sodium_rank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896112"/>
            <a:ext cx="4818888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416552"/>
            <a:ext cx="4818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Figure 3. Top 20 highest-sodium products.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0" y="960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Looking into individual products…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0" y="137160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16 products exceed 5,000 mg sodium per serving</a:t>
            </a:r>
          </a:p>
          <a:p>
            <a:pPr marL="342900" indent="-342900">
              <a:buSzPct val="100000"/>
              <a:buChar char="•"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All 16 are dry spice blends or salts with sub-5g serving sizes</a:t>
            </a:r>
          </a:p>
          <a:p>
            <a:pPr marL="342900" indent="-342900">
              <a:buSzPct val="100000"/>
              <a:buChar char="•"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33.4% of all products exceed the FDA high-sodium threshold of 460 mg</a:t>
            </a:r>
          </a:p>
          <a:p>
            <a:pPr marL="342900" indent="-342900">
              <a:buSzPct val="100000"/>
              <a:buChar char="•"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Values like 40,000 mg on a 1.5g serving are physically impossible</a:t>
            </a:r>
          </a:p>
          <a:p>
            <a:pPr marL="342900" indent="-342900">
              <a:buSzPct val="100000"/>
              <a:buChar char="•"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Rule applied: remove any product with sodium &gt; 5,000 mg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 1: Impact of Removing 16 Outliers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r1_fig4_before_af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960120"/>
            <a:ext cx="8229600" cy="33558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3891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65760" y="455371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Sodium mean drops 44%: 720 mg → 400 mg. Median moves only 12.5 mg (298 → 285). All other nutrients change by less than 3 units.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 2: Sugar Analysis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r2_fig5_suga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96112"/>
            <a:ext cx="5148072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407408"/>
            <a:ext cx="5148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Figure 5. Median total vs. added sugar by category.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669280" y="960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proof is in the pudding.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669280" y="137160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Jam &amp; fruit spreads lead at 60g median total sugar</a:t>
            </a:r>
          </a:p>
          <a:p>
            <a:pPr marL="342900" indent="-342900">
              <a:buSzPct val="100000"/>
              <a:buChar char="•"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Tx/>
              <a:buChar char="•"/>
            </a:pPr>
            <a:r>
              <a:rPr lang="en-US" sz="12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Candy, Baking Decorations, Cakes/Snack Cakes: added sugar exceeds total sugar showing data inconsistency/error.</a:t>
            </a:r>
          </a:p>
          <a:p>
            <a:pPr marL="342900" indent="-342900">
              <a:buSzPct val="100000"/>
              <a:buChar char="•"/>
            </a:pPr>
            <a:endParaRPr lang="en-US" sz="125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Wholesome Snacks: 37.5g total, 0g added.</a:t>
            </a:r>
          </a:p>
          <a:p>
            <a:pPr marL="342900" indent="-342900">
              <a:buSzPct val="100000"/>
              <a:buChar char="•"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Added sugar vs. total sugar gap reveals nutritional quality better than total alone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652B8-24C6-940E-2C09-C1C7D241A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3C9314C-FEF9-6B0D-69A0-2E013425EDE4}"/>
              </a:ext>
            </a:extLst>
          </p:cNvPr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1E5AB3-4AC2-8262-9639-593AD96842F2}"/>
              </a:ext>
            </a:extLst>
          </p:cNvPr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 2: Trans Fat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8D42942-E4D8-2E60-2396-1E6370A8013E}"/>
              </a:ext>
            </a:extLst>
          </p:cNvPr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r2_fig6_transfat.png">
            <a:extLst>
              <a:ext uri="{FF2B5EF4-FFF2-40B4-BE49-F238E27FC236}">
                <a16:creationId xmlns:a16="http://schemas.microsoft.com/office/drawing/2014/main" id="{BEE5B331-E30E-DB11-94A7-885172707D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8229600" cy="2341142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711518B1-D427-D16F-73C2-1C7B1823DB3C}"/>
              </a:ext>
            </a:extLst>
          </p:cNvPr>
          <p:cNvSpPr/>
          <p:nvPr/>
        </p:nvSpPr>
        <p:spPr>
          <a:xfrm>
            <a:off x="308956" y="331955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Figure 6. 95.7% of products report 0g trans fat.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2688B8B-6E86-3704-0FAD-23E8FCAD07A8}"/>
              </a:ext>
            </a:extLst>
          </p:cNvPr>
          <p:cNvSpPr/>
          <p:nvPr/>
        </p:nvSpPr>
        <p:spPr>
          <a:xfrm>
            <a:off x="4663440" y="3410989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9566A3F-701C-4BF5-8AF4-9E47AC0EF91C}"/>
              </a:ext>
            </a:extLst>
          </p:cNvPr>
          <p:cNvSpPr/>
          <p:nvPr/>
        </p:nvSpPr>
        <p:spPr>
          <a:xfrm>
            <a:off x="365760" y="3822469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 fat nearly eliminated post-2018 FDA ruling on partially hydrogenated oils (PHOs)</a:t>
            </a:r>
          </a:p>
          <a:p>
            <a:pPr marL="342900" indent="-342900">
              <a:buSzPct val="100000"/>
              <a:buChar char="•"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Remaining non-zero: animal products (natural trans fat) + legacy microwave popcorn (up to 8.75g)</a:t>
            </a:r>
          </a:p>
          <a:p>
            <a:pPr marL="342900" indent="-342900">
              <a:buSzPct val="100000"/>
              <a:buChar char="•"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720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 2: Calorie Variation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74320" y="3410989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/home/claude/r2_fig7_cal_vari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8595360" cy="23411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5760" y="33203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Figure 7. Highest and lowest calorie categories.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365760" y="3689465"/>
            <a:ext cx="8412480" cy="1262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Cooking oils lead calories at 800 kcal median;</a:t>
            </a:r>
          </a:p>
          <a:p>
            <a:pPr>
              <a:buSzPct val="100000"/>
            </a:pPr>
            <a:endParaRPr lang="en-US" sz="13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Water and vegetables sit near 0 kcal</a:t>
            </a:r>
          </a:p>
          <a:p>
            <a:pPr marL="342900" indent="-342900">
              <a:buSzPct val="100000"/>
              <a:buChar char="•"/>
            </a:pPr>
            <a:endParaRPr lang="en-US" sz="13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Soda low calorie count as it has diet options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 2: Sodium by Category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r2_fig8_sodium_pc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96112"/>
            <a:ext cx="5513832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407408"/>
            <a:ext cx="5513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Figure 8. % of products exceeding the FDA 460 mg high-sodium threshold by category.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035040" y="9601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Findings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35040" y="137160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Condiments: 94% exceed 460 mg. Salt is the primary flavor carrier</a:t>
            </a:r>
          </a:p>
          <a:p>
            <a:pPr marL="342900" indent="-342900">
              <a:buSzPct val="100000"/>
              <a:buChar char="•"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Cured meats (pepperoni, salami): 88%</a:t>
            </a:r>
          </a:p>
          <a:p>
            <a:pPr marL="342900" indent="-342900">
              <a:buSzPct val="100000"/>
              <a:buChar char="•"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Sausages &amp; hot dogs: 82%</a:t>
            </a:r>
          </a:p>
          <a:p>
            <a:pPr>
              <a:buSzPct val="100000"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5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Across most categories, sodium exceeds the FDA threshold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 3: Correlations and Macronutrient Composition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8412480" cy="274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r3_fig9_cor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249309"/>
            <a:ext cx="3739896" cy="31580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407408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Figure 9. Nutrient correlation matrix.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389120" y="32552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389120" y="1530096"/>
            <a:ext cx="4663440" cy="3453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Fat &amp; calories: r=0.74  |  Fat &amp; sat fat: r=0.73  |  Carbs &amp; sugar: r=0.69</a:t>
            </a:r>
          </a:p>
          <a:p>
            <a:pPr marL="342900" indent="-342900">
              <a:buSzPct val="10000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Sodium near-zero correlation with carbs, fat, sugar, meaning it is category-driven, not macro-driven</a:t>
            </a:r>
          </a:p>
          <a:p>
            <a:pPr marL="342900" indent="-342900">
              <a:buSzPct val="100000"/>
              <a:buChar char="•"/>
            </a:pPr>
            <a:endParaRPr lang="en-US" sz="12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Protein and fiber correlate stronger than fiber and carbs, even though fiber is carbs</a:t>
            </a:r>
          </a:p>
          <a:p>
            <a:pPr marL="342900" indent="-342900">
              <a:buSzPct val="10000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F31D3C-A52F-2086-9DC3-75AD54E40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932A49-4970-21CD-B592-F4829D15B713}"/>
              </a:ext>
            </a:extLst>
          </p:cNvPr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12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C740B9-1318-F61A-0A33-CB694BD96C19}"/>
              </a:ext>
            </a:extLst>
          </p:cNvPr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 3: Correlations and Macronutrient Composition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F43F89E-F522-33E6-4B15-B666B2311A80}"/>
              </a:ext>
            </a:extLst>
          </p:cNvPr>
          <p:cNvSpPr/>
          <p:nvPr/>
        </p:nvSpPr>
        <p:spPr>
          <a:xfrm>
            <a:off x="365760" y="978408"/>
            <a:ext cx="8412480" cy="274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66B84CA-3DA5-83E3-E267-A188F06951B1}"/>
              </a:ext>
            </a:extLst>
          </p:cNvPr>
          <p:cNvSpPr/>
          <p:nvPr/>
        </p:nvSpPr>
        <p:spPr>
          <a:xfrm>
            <a:off x="274320" y="4407408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/home/claude/r3_fig10_macro.png">
            <a:extLst>
              <a:ext uri="{FF2B5EF4-FFF2-40B4-BE49-F238E27FC236}">
                <a16:creationId xmlns:a16="http://schemas.microsoft.com/office/drawing/2014/main" id="{A09F1BC2-BE76-991E-0D03-E0A8DF9024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19" y="1120140"/>
            <a:ext cx="5200995" cy="363474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993CE88D-F1C9-5DC5-94A5-0FEA60F72E87}"/>
              </a:ext>
            </a:extLst>
          </p:cNvPr>
          <p:cNvSpPr/>
          <p:nvPr/>
        </p:nvSpPr>
        <p:spPr>
          <a:xfrm>
            <a:off x="4389120" y="325526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EC4C6D2-FAC9-EFBB-6B36-3C108C2D99D6}"/>
              </a:ext>
            </a:extLst>
          </p:cNvPr>
          <p:cNvSpPr/>
          <p:nvPr/>
        </p:nvSpPr>
        <p:spPr>
          <a:xfrm>
            <a:off x="5749635" y="1683327"/>
            <a:ext cx="3028605" cy="3300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Carbs supply 54% of avg calories; fat 32%; protein 14%</a:t>
            </a:r>
          </a:p>
          <a:p>
            <a:pPr marL="342900" indent="-342900">
              <a:buSzPct val="10000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Carb distribution is bimodal: 0% (oils/meats) and 80-100% (candy/soda), the avg of 54% is misleading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062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 3: Nutritional Quality Findings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/home/claude/r3_fig11_good_scat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4297680" cy="3090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0325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Figure 11. High protein+fiber: fat vs. sodium.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663440" y="311865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663440" y="1446692"/>
            <a:ext cx="4297680" cy="3536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en-US" sz="12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would happen if we filtered for high protein and high fiber?</a:t>
            </a:r>
          </a:p>
          <a:p>
            <a:pPr marL="342900" indent="-342900">
              <a:buSzPct val="100000"/>
              <a:buChar char="•"/>
            </a:pPr>
            <a:endParaRPr lang="en-US" sz="12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endParaRPr lang="en-US" sz="12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95 products meet high-protein (&gt;=10g) AND high-fiber (&gt;=3g) , but the avg sodium is 484 mg, above FDA threshold</a:t>
            </a:r>
          </a:p>
          <a:p>
            <a:pPr marL="342900" indent="-342900">
              <a:buSzPct val="100000"/>
              <a:buChar char="•"/>
            </a:pPr>
            <a:endParaRPr lang="en-US" sz="12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Many of these products also contain high amounts of fat </a:t>
            </a:r>
          </a:p>
          <a:p>
            <a:pPr marL="342900" indent="-342900">
              <a:buSzPct val="100000"/>
              <a:buChar char="•"/>
            </a:pPr>
            <a:endParaRPr lang="en-US" sz="12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endParaRPr lang="en-US" sz="1200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A4AD18-B54F-2E14-D0DC-4123D803A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AD05A4-1225-ECA7-8305-3F69DBAE94CF}"/>
              </a:ext>
            </a:extLst>
          </p:cNvPr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063DCD-7EB0-6798-77A9-60FE46BA2C92}"/>
              </a:ext>
            </a:extLst>
          </p:cNvPr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Report 3: Nutritional Quality Findings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6A6847B-E209-FB9E-3001-81A785A16007}"/>
              </a:ext>
            </a:extLst>
          </p:cNvPr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653CCCF-71CA-4034-1D95-E171D9F5553F}"/>
              </a:ext>
            </a:extLst>
          </p:cNvPr>
          <p:cNvSpPr/>
          <p:nvPr/>
        </p:nvSpPr>
        <p:spPr>
          <a:xfrm>
            <a:off x="274320" y="40325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/home/claude/r3_fig12_best_profile.png">
            <a:extLst>
              <a:ext uri="{FF2B5EF4-FFF2-40B4-BE49-F238E27FC236}">
                <a16:creationId xmlns:a16="http://schemas.microsoft.com/office/drawing/2014/main" id="{BFCDFA09-E090-D2F9-6D47-78626626F8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41832"/>
            <a:ext cx="4297680" cy="3945636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2377C95B-7EA4-62F6-B2F6-E07F8369E23F}"/>
              </a:ext>
            </a:extLst>
          </p:cNvPr>
          <p:cNvSpPr/>
          <p:nvPr/>
        </p:nvSpPr>
        <p:spPr>
          <a:xfrm>
            <a:off x="274320" y="4819511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Figure 12. Best nutrition profile vs. all products.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8889A0D-DAD3-1C58-51A6-20F5088A5B44}"/>
              </a:ext>
            </a:extLst>
          </p:cNvPr>
          <p:cNvSpPr/>
          <p:nvPr/>
        </p:nvSpPr>
        <p:spPr>
          <a:xfrm>
            <a:off x="4663440" y="1147157"/>
            <a:ext cx="4297680" cy="3674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Applying 5 simultaneous filters (protein, fiber, sodium, sat fat, sugar) leaves only 9 of 984 products (0.9%)</a:t>
            </a:r>
          </a:p>
          <a:p>
            <a:pPr marL="342900" indent="-342900">
              <a:buSzPct val="10000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 of 9 are dry pasta, high protein/fiber, zero sodium, zero added sugar</a:t>
            </a:r>
          </a:p>
          <a:p>
            <a:pPr marL="342900" indent="-342900">
              <a:buSzPct val="10000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Remaining: dried shiitake mushrooms, chia powder, one chickpea puff, one Quest protein bar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86273E-A207-9A61-7216-F915CA83C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0556" y="2847386"/>
            <a:ext cx="3807684" cy="204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526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100000">
              <a:schemeClr val="accent2">
                <a:lumMod val="69000"/>
                <a:lumOff val="31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388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572768"/>
            <a:ext cx="2651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291840" y="1143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91840" y="1572768"/>
            <a:ext cx="2651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17920" y="1143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17920" y="1572768"/>
            <a:ext cx="2651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9D3F22-DEE9-B286-2A3C-2364C0369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32" y="1533159"/>
            <a:ext cx="4930936" cy="20771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</TotalTime>
  <Words>699</Words>
  <Application>Microsoft Office PowerPoint</Application>
  <PresentationFormat>On-screen Show (16:9)</PresentationFormat>
  <Paragraphs>109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JEAN C BATISTA</cp:lastModifiedBy>
  <cp:revision>3</cp:revision>
  <dcterms:created xsi:type="dcterms:W3CDTF">2026-05-03T20:11:56Z</dcterms:created>
  <dcterms:modified xsi:type="dcterms:W3CDTF">2026-05-12T18:46:00Z</dcterms:modified>
</cp:coreProperties>
</file>